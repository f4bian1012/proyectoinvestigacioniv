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70" r:id="rId6"/>
    <p:sldId id="274" r:id="rId7"/>
    <p:sldId id="275" r:id="rId8"/>
    <p:sldId id="277" r:id="rId9"/>
    <p:sldId id="279" r:id="rId10"/>
    <p:sldId id="278" r:id="rId11"/>
    <p:sldId id="280" r:id="rId12"/>
    <p:sldId id="281" r:id="rId13"/>
    <p:sldId id="282" r:id="rId14"/>
    <p:sldId id="283" r:id="rId15"/>
    <p:sldId id="284" r:id="rId16"/>
    <p:sldId id="286" r:id="rId17"/>
    <p:sldId id="287" r:id="rId18"/>
    <p:sldId id="288" r:id="rId19"/>
    <p:sldId id="293" r:id="rId20"/>
    <p:sldId id="290" r:id="rId21"/>
    <p:sldId id="291" r:id="rId22"/>
    <p:sldId id="292" r:id="rId23"/>
    <p:sldId id="285" r:id="rId24"/>
  </p:sldIdLst>
  <p:sldSz cx="9144000" cy="6858000" type="letter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B3080F47-54FE-4674-8A61-9F6C6D97AC09}">
          <p14:sldIdLst>
            <p14:sldId id="256"/>
            <p14:sldId id="270"/>
            <p14:sldId id="274"/>
            <p14:sldId id="275"/>
            <p14:sldId id="277"/>
            <p14:sldId id="279"/>
            <p14:sldId id="278"/>
            <p14:sldId id="280"/>
            <p14:sldId id="281"/>
            <p14:sldId id="282"/>
            <p14:sldId id="283"/>
            <p14:sldId id="284"/>
            <p14:sldId id="286"/>
            <p14:sldId id="287"/>
            <p14:sldId id="288"/>
            <p14:sldId id="293"/>
            <p14:sldId id="290"/>
            <p14:sldId id="291"/>
            <p14:sldId id="292"/>
            <p14:sldId id="2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6D7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30F65F-BCD2-45A5-BD17-161DE806B231}" v="45" dt="2026-02-06T00:22:51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4660"/>
  </p:normalViewPr>
  <p:slideViewPr>
    <p:cSldViewPr>
      <p:cViewPr varScale="1">
        <p:scale>
          <a:sx n="106" d="100"/>
          <a:sy n="106" d="100"/>
        </p:scale>
        <p:origin x="120" y="10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6" d="100"/>
          <a:sy n="86" d="100"/>
        </p:scale>
        <p:origin x="-1974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EYSON FABIAN VILLAVISAN BUITRAGO" userId="e5ced5c2-d787-455d-b115-4f08a699b8c8" providerId="ADAL" clId="{346ECE53-D0EE-4664-97A2-EE5ED4BD15CE}"/>
    <pc:docChg chg="undo custSel modSld">
      <pc:chgData name="JHEYSON FABIAN VILLAVISAN BUITRAGO" userId="e5ced5c2-d787-455d-b115-4f08a699b8c8" providerId="ADAL" clId="{346ECE53-D0EE-4664-97A2-EE5ED4BD15CE}" dt="2026-02-06T00:22:51.542" v="519" actId="1076"/>
      <pc:docMkLst>
        <pc:docMk/>
      </pc:docMkLst>
      <pc:sldChg chg="addSp delSp modSp mod">
        <pc:chgData name="JHEYSON FABIAN VILLAVISAN BUITRAGO" userId="e5ced5c2-d787-455d-b115-4f08a699b8c8" providerId="ADAL" clId="{346ECE53-D0EE-4664-97A2-EE5ED4BD15CE}" dt="2026-02-03T15:12:45.977" v="495" actId="20577"/>
        <pc:sldMkLst>
          <pc:docMk/>
          <pc:sldMk cId="0" sldId="256"/>
        </pc:sldMkLst>
        <pc:spChg chg="mod">
          <ac:chgData name="JHEYSON FABIAN VILLAVISAN BUITRAGO" userId="e5ced5c2-d787-455d-b115-4f08a699b8c8" providerId="ADAL" clId="{346ECE53-D0EE-4664-97A2-EE5ED4BD15CE}" dt="2026-02-03T15:12:45.977" v="495" actId="20577"/>
          <ac:spMkLst>
            <pc:docMk/>
            <pc:sldMk cId="0" sldId="256"/>
            <ac:spMk id="10" creationId="{0D52910C-C7FF-51AD-9B9D-1A390D5FFE1B}"/>
          </ac:spMkLst>
        </pc:spChg>
        <pc:spChg chg="mod">
          <ac:chgData name="JHEYSON FABIAN VILLAVISAN BUITRAGO" userId="e5ced5c2-d787-455d-b115-4f08a699b8c8" providerId="ADAL" clId="{346ECE53-D0EE-4664-97A2-EE5ED4BD15CE}" dt="2026-02-03T14:41:53.351" v="22" actId="404"/>
          <ac:spMkLst>
            <pc:docMk/>
            <pc:sldMk cId="0" sldId="256"/>
            <ac:spMk id="5124" creationId="{75207037-66AB-408E-B44C-6489E27F4A1E}"/>
          </ac:spMkLst>
        </pc:spChg>
        <pc:picChg chg="add mod">
          <ac:chgData name="JHEYSON FABIAN VILLAVISAN BUITRAGO" userId="e5ced5c2-d787-455d-b115-4f08a699b8c8" providerId="ADAL" clId="{346ECE53-D0EE-4664-97A2-EE5ED4BD15CE}" dt="2026-02-03T14:47:01.771" v="76"/>
          <ac:picMkLst>
            <pc:docMk/>
            <pc:sldMk cId="0" sldId="256"/>
            <ac:picMk id="4" creationId="{D4479EB1-4DF9-B949-038D-F4DF4235BA8D}"/>
          </ac:picMkLst>
        </pc:picChg>
      </pc:sldChg>
      <pc:sldChg chg="addSp delSp modSp mod">
        <pc:chgData name="JHEYSON FABIAN VILLAVISAN BUITRAGO" userId="e5ced5c2-d787-455d-b115-4f08a699b8c8" providerId="ADAL" clId="{346ECE53-D0EE-4664-97A2-EE5ED4BD15CE}" dt="2026-02-06T00:22:51.542" v="519" actId="1076"/>
        <pc:sldMkLst>
          <pc:docMk/>
          <pc:sldMk cId="2505371292" sldId="270"/>
        </pc:sldMkLst>
        <pc:spChg chg="add mod">
          <ac:chgData name="JHEYSON FABIAN VILLAVISAN BUITRAGO" userId="e5ced5c2-d787-455d-b115-4f08a699b8c8" providerId="ADAL" clId="{346ECE53-D0EE-4664-97A2-EE5ED4BD15CE}" dt="2026-02-06T00:22:51.542" v="519" actId="1076"/>
          <ac:spMkLst>
            <pc:docMk/>
            <pc:sldMk cId="2505371292" sldId="270"/>
            <ac:spMk id="3" creationId="{E3939621-2089-EA67-8952-39A4E2C7964F}"/>
          </ac:spMkLst>
        </pc:spChg>
        <pc:spChg chg="mod">
          <ac:chgData name="JHEYSON FABIAN VILLAVISAN BUITRAGO" userId="e5ced5c2-d787-455d-b115-4f08a699b8c8" providerId="ADAL" clId="{346ECE53-D0EE-4664-97A2-EE5ED4BD15CE}" dt="2026-02-03T15:10:46.062" v="484" actId="1076"/>
          <ac:spMkLst>
            <pc:docMk/>
            <pc:sldMk cId="2505371292" sldId="270"/>
            <ac:spMk id="7" creationId="{EBDE2FDF-A2BB-4F17-99CB-0B213EF4BAA4}"/>
          </ac:spMkLst>
        </pc:spChg>
        <pc:spChg chg="add del mod">
          <ac:chgData name="JHEYSON FABIAN VILLAVISAN BUITRAGO" userId="e5ced5c2-d787-455d-b115-4f08a699b8c8" providerId="ADAL" clId="{346ECE53-D0EE-4664-97A2-EE5ED4BD15CE}" dt="2026-02-06T00:22:44.131" v="517" actId="21"/>
          <ac:spMkLst>
            <pc:docMk/>
            <pc:sldMk cId="2505371292" sldId="270"/>
            <ac:spMk id="8" creationId="{7072F0D5-D0A5-6C05-B73D-F02325B271EC}"/>
          </ac:spMkLst>
        </pc:spChg>
        <pc:graphicFrameChg chg="mod modGraphic">
          <ac:chgData name="JHEYSON FABIAN VILLAVISAN BUITRAGO" userId="e5ced5c2-d787-455d-b115-4f08a699b8c8" providerId="ADAL" clId="{346ECE53-D0EE-4664-97A2-EE5ED4BD15CE}" dt="2026-02-06T00:20:48.619" v="516" actId="13926"/>
          <ac:graphicFrameMkLst>
            <pc:docMk/>
            <pc:sldMk cId="2505371292" sldId="270"/>
            <ac:graphicFrameMk id="2" creationId="{BFAD80C6-663E-42AD-A6EE-0E699E7C415E}"/>
          </ac:graphicFrameMkLst>
        </pc:graphicFrameChg>
        <pc:graphicFrameChg chg="add del mod modGraphic">
          <ac:chgData name="JHEYSON FABIAN VILLAVISAN BUITRAGO" userId="e5ced5c2-d787-455d-b115-4f08a699b8c8" providerId="ADAL" clId="{346ECE53-D0EE-4664-97A2-EE5ED4BD15CE}" dt="2026-02-03T15:06:47.772" v="415" actId="2711"/>
          <ac:graphicFrameMkLst>
            <pc:docMk/>
            <pc:sldMk cId="2505371292" sldId="270"/>
            <ac:graphicFrameMk id="11" creationId="{B23884C5-0885-2D32-6D50-BAD662F1AFC1}"/>
          </ac:graphicFrameMkLst>
        </pc:graphicFrameChg>
        <pc:picChg chg="add mod">
          <ac:chgData name="JHEYSON FABIAN VILLAVISAN BUITRAGO" userId="e5ced5c2-d787-455d-b115-4f08a699b8c8" providerId="ADAL" clId="{346ECE53-D0EE-4664-97A2-EE5ED4BD15CE}" dt="2026-02-03T14:46:03.492" v="66"/>
          <ac:picMkLst>
            <pc:docMk/>
            <pc:sldMk cId="2505371292" sldId="270"/>
            <ac:picMk id="1028" creationId="{86BA1783-B2FE-6B6A-8793-A57527FC5C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47915143-6094-49C4-8478-307681A6487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E61AFD88-643E-4E4D-8153-8A3839D76E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BB1C097-8B49-4A36-A7FA-8C8F0C277D41}" type="datetimeFigureOut">
              <a:rPr lang="es-CO"/>
              <a:pPr>
                <a:defRPr/>
              </a:pPr>
              <a:t>5/02/2026</a:t>
            </a:fld>
            <a:endParaRPr lang="es-CO"/>
          </a:p>
        </p:txBody>
      </p:sp>
      <p:sp>
        <p:nvSpPr>
          <p:cNvPr id="4" name="3 Marcador de pie de página">
            <a:extLst>
              <a:ext uri="{FF2B5EF4-FFF2-40B4-BE49-F238E27FC236}">
                <a16:creationId xmlns:a16="http://schemas.microsoft.com/office/drawing/2014/main" id="{3BE10141-B975-4F90-A194-E7FDEF6D96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5" name="4 Marcador de número de diapositiva">
            <a:extLst>
              <a:ext uri="{FF2B5EF4-FFF2-40B4-BE49-F238E27FC236}">
                <a16:creationId xmlns:a16="http://schemas.microsoft.com/office/drawing/2014/main" id="{CB5420F6-B73B-496E-99A5-DA0DEB4910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7E2DAB9-AA88-43A6-983F-CB4A7A312EA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2C95AF31-5149-4332-A5F3-9D9CFCFA32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D4B5AF27-5D83-4D95-A156-928EF9B608B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0040F3-314B-4AAA-954A-3936AF2F78D0}" type="datetimeFigureOut">
              <a:rPr lang="es-CO"/>
              <a:pPr>
                <a:defRPr/>
              </a:pPr>
              <a:t>5/02/2026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090DF562-10D4-4334-812B-4254934B62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0DF2FAE4-4DE9-447F-A5F2-283E54F41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D994E73-BBA8-4FBD-B1A6-0A295B07407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4D0EE3C9-11EB-42C6-BDB8-87C72B3F84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2D1E0FDF-8C6F-43B4-8722-700C06D0C414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1 Marcador de imagen de diapositiva">
            <a:extLst>
              <a:ext uri="{FF2B5EF4-FFF2-40B4-BE49-F238E27FC236}">
                <a16:creationId xmlns:a16="http://schemas.microsoft.com/office/drawing/2014/main" id="{78D3C7C4-FFB3-42B6-A4B0-ED4A84AF8C2A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2 Marcador de notas">
            <a:extLst>
              <a:ext uri="{FF2B5EF4-FFF2-40B4-BE49-F238E27FC236}">
                <a16:creationId xmlns:a16="http://schemas.microsoft.com/office/drawing/2014/main" id="{E86488B3-6D5E-452F-A655-0C78399B0DF9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6148" name="3 Marcador de número de diapositiva">
            <a:extLst>
              <a:ext uri="{FF2B5EF4-FFF2-40B4-BE49-F238E27FC236}">
                <a16:creationId xmlns:a16="http://schemas.microsoft.com/office/drawing/2014/main" id="{7A241DB1-0FDE-44DC-B1DD-D836F28027B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8E7ECF6-8A67-4CA6-BDA2-9506B8AC7939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1 Marcador de imagen de diapositiva">
            <a:extLst>
              <a:ext uri="{FF2B5EF4-FFF2-40B4-BE49-F238E27FC236}">
                <a16:creationId xmlns:a16="http://schemas.microsoft.com/office/drawing/2014/main" id="{260D1970-13BF-44DC-9886-6E67D35FDD3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1" name="2 Marcador de notas">
            <a:extLst>
              <a:ext uri="{FF2B5EF4-FFF2-40B4-BE49-F238E27FC236}">
                <a16:creationId xmlns:a16="http://schemas.microsoft.com/office/drawing/2014/main" id="{6BFED306-39A9-4CC8-97F4-8E7ABA1E7C2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 dirty="0"/>
          </a:p>
        </p:txBody>
      </p:sp>
      <p:sp>
        <p:nvSpPr>
          <p:cNvPr id="12292" name="3 Marcador de número de diapositiva">
            <a:extLst>
              <a:ext uri="{FF2B5EF4-FFF2-40B4-BE49-F238E27FC236}">
                <a16:creationId xmlns:a16="http://schemas.microsoft.com/office/drawing/2014/main" id="{90234881-975B-402B-A928-CF07A16ACBF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6A04CF6-E9A9-4CB5-A38D-CF2C64EF1161}" type="slidenum">
              <a:rPr lang="es-CO" altLang="es-CO" smtClean="0"/>
              <a:pPr>
                <a:spcBef>
                  <a:spcPct val="0"/>
                </a:spcBef>
              </a:pPr>
              <a:t>2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851068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20F6C-4CB6-1231-6926-9D1C0EFBBA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71532A-F766-06A1-B904-5E7DD21FD9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1762F4B-DC61-F7F5-8966-D2718230E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3D9FE6-9A5C-9367-1C28-183D385B8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3DBBB9F-3052-B3AE-E085-BB27B5033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32E1E3-6AB7-4D92-A33A-F043E6C5B71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7 Rectángulo">
            <a:extLst>
              <a:ext uri="{FF2B5EF4-FFF2-40B4-BE49-F238E27FC236}">
                <a16:creationId xmlns:a16="http://schemas.microsoft.com/office/drawing/2014/main" id="{4EDA08D5-F667-8787-0063-21E612015DD7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75921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D68A1-6D68-CD6D-C3FD-91DA62A2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398EC3-5D4E-468C-F30B-CE6560798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9830B3-74C5-1ACB-B556-F55E98F59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27DCF0-C431-0852-42CE-95C44852C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46AD75-DF05-40EA-B4F3-3CF83558E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19D7D-12FE-4B7D-95D8-6A0F2828D8E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75491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C31533-0C84-ADE9-99EA-26241D9B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1E6E27-3202-D0B8-F283-8CFBD093E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8D6381-9943-A208-5F45-856FCB42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9BCE5B-A275-1968-3267-A868EB60B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B90775-642D-4759-324A-AE1E31858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D14026-6FB7-464F-BD55-9983151CEDB0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851364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947BA-2671-5DCE-289C-85840739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C8C46-4DD7-DB89-3971-B7D6B1F475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EBB1AC8-CC6D-7CD8-18BA-F0920AEC1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38D8F2-068C-1F31-5CF2-766814AC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32360FD-9E47-D090-4AB3-714887C3A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D37D2D-9508-DFEF-774C-C8A5B6A2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813DE1-EA20-4BEF-AB12-D2D69A6090C3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019277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7BAD9-4D34-20A2-A9AE-82964CF4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59AA51-6010-C8FF-084C-C110BCCDA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96FAE22-1B9C-8F57-87A7-2E14CE304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E7830DD-6A40-8E27-70CB-D8FE41AD3C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777C88D-8DD0-FC51-A16D-49E686FFA9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4FB2C8A-08F4-1A41-5036-C328209FC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B5A1F5B-743C-D501-930D-F90EBA8A6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3F5F7C-9BF7-A3DE-8669-2EC9E00E0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150205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0EE9A1-E144-373F-F5D9-12C31B7C6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58BE38C-0964-C281-4826-2C3C11C49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43AB1AB-1E52-7FD3-3BB7-A73F570B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167E51-3FDD-695C-0CE2-96F608F7E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39500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9E5E9C-8C29-201A-9031-69BC92AF4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F115059-38DA-DC3D-A1B7-0C4BF8683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C62E63-C8FB-04D9-3735-C7919A9D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38C22F4-EE15-4184-8A4F-C4124F2BE447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21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3FE12-3262-8961-6F36-E338D8C8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2AB934-4DB1-C46B-4EB1-4D1AAC7D0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8C1947E-F2E3-1002-A600-DED1B9DA8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DA0B25A-FC1B-767C-8C69-FE2AD6FE5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85C023-3180-C2A8-6BD0-63D18C453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4F4F0A9-714D-5058-F92E-179ECE0AA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CB0E3D-5246-46A6-A0B3-053B7FB2AE0D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239017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D8E29-2B5D-9CF4-A199-E673E0D5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D75A990-0E1F-4E60-D107-9756D6BFD3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6BD761-3CC8-1CF5-9984-F066094FC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540D8-AA84-05D7-E9B4-4E08651A5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9086AA3-AF31-8C9A-7F2F-B87848C66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1105B9-8899-D51A-88C0-376DC7823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95374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04477-2834-99EC-CFA8-180937D0B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AAFD096-F1C5-E969-C636-867E3E66E5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912F77-4B86-C6CC-4ED2-812449AE8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E79BD8-72C6-81E3-EF48-F29328E65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1B4782-D0C0-509F-4BDC-03E4A791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712065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545E7B-9A8C-6F62-F333-E612FC1E4B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5C78DD-62C0-ADA7-4AC6-5F7C5B358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5F10F1-E647-76F8-2174-E45862B25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16465-EAB8-8324-072F-8B25CA808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151C83-117D-752A-7DDA-A1F8A8B9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64717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7 Rectángulo">
            <a:extLst>
              <a:ext uri="{FF2B5EF4-FFF2-40B4-BE49-F238E27FC236}">
                <a16:creationId xmlns:a16="http://schemas.microsoft.com/office/drawing/2014/main" id="{EC631D57-6843-47FB-8C0A-4FA9AA9BC663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4000496" y="71414"/>
            <a:ext cx="5072066" cy="571504"/>
          </a:xfrm>
        </p:spPr>
        <p:txBody>
          <a:bodyPr/>
          <a:lstStyle>
            <a:lvl1pPr algn="r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857224" y="857232"/>
            <a:ext cx="7715304" cy="500066"/>
          </a:xfr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047221BE-117B-43C8-9D2A-CE256401B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438" y="206375"/>
            <a:ext cx="785812" cy="365125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532E1E3-6AB7-4D92-A33A-F043E6C5B71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82761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61EBF708-C41B-44B1-97EC-CF1BBBC20C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219D7D-12FE-4B7D-95D8-6A0F2828D8E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701494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264318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857224" y="1071546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EE100265-4A3B-4F40-A5F0-770BFD064A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8D14026-6FB7-464F-BD55-9983151CEDB0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351668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857224" y="2214554"/>
            <a:ext cx="3571900" cy="40258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2214554"/>
            <a:ext cx="4038600" cy="4000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DFF2B988-F19E-4F04-BD27-A48F39A01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813DE1-EA20-4BEF-AB12-D2D69A6090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4911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FF35CE3E-FD30-4207-9576-68F58A4C8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321CA9-07FE-4363-8077-5E54FDAF3616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126016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 descr="&lt;No.&gt;">
            <a:extLst>
              <a:ext uri="{FF2B5EF4-FFF2-40B4-BE49-F238E27FC236}">
                <a16:creationId xmlns:a16="http://schemas.microsoft.com/office/drawing/2014/main" id="{D69FD3F0-0EF5-4AC6-A81B-0CFD0FF77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BDF024-4D44-479D-901F-E26036C4C7D1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442379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 descr="&lt;No.&gt;">
            <a:extLst>
              <a:ext uri="{FF2B5EF4-FFF2-40B4-BE49-F238E27FC236}">
                <a16:creationId xmlns:a16="http://schemas.microsoft.com/office/drawing/2014/main" id="{0FCC1E91-35AF-4149-AC6B-42626F30B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8C22F4-EE15-4184-8A4F-C4124F2BE447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94708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857224" y="857232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32250" y="85723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857224" y="200024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 descr="&lt;No.&gt;">
            <a:extLst>
              <a:ext uri="{FF2B5EF4-FFF2-40B4-BE49-F238E27FC236}">
                <a16:creationId xmlns:a16="http://schemas.microsoft.com/office/drawing/2014/main" id="{B1F7549D-979F-45AB-AD58-5BF7CB6DB3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B0E3D-5246-46A6-A0B3-053B7FB2AE0D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9624281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5072074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928670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5 Marcador de número de diapositiva" descr="&lt;No.&gt;">
            <a:extLst>
              <a:ext uri="{FF2B5EF4-FFF2-40B4-BE49-F238E27FC236}">
                <a16:creationId xmlns:a16="http://schemas.microsoft.com/office/drawing/2014/main" id="{3328A9B1-3ED4-438D-8E87-64D0CD384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9056AB-9AE7-49AD-9364-B4271C824DC3}" type="slidenum">
              <a:rPr lang="es-CO" altLang="es-CO"/>
              <a:pPr>
                <a:defRPr/>
              </a:pPr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00895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D1179B3-E3F7-8DF3-ABF5-4D23297F0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E192CF-B8E8-68F7-E0A0-A63F6554F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113D34-63A4-3585-73E1-7A6563CC9F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7635E-2D71-42E7-9E6C-FBB85A15A85F}" type="datetimeFigureOut">
              <a:rPr lang="es-CO" smtClean="0"/>
              <a:t>5/02/2026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79372D-5D91-7624-4D7B-06BE31EEB2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491E14-EF87-176A-B3C5-BCD96C5D3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F153FCAA-A8F6-46C0-A16D-21FE2511045A}" type="slidenum">
              <a:rPr lang="es-CO" altLang="es-CO" smtClean="0"/>
              <a:pPr>
                <a:defRPr/>
              </a:pPr>
              <a:t>‹Nº›</a:t>
            </a:fld>
            <a:endParaRPr lang="es-CO" altLang="es-CO"/>
          </a:p>
        </p:txBody>
      </p:sp>
      <p:sp>
        <p:nvSpPr>
          <p:cNvPr id="7" name="6 Rectángulo">
            <a:extLst>
              <a:ext uri="{FF2B5EF4-FFF2-40B4-BE49-F238E27FC236}">
                <a16:creationId xmlns:a16="http://schemas.microsoft.com/office/drawing/2014/main" id="{7B0CA632-E545-9F27-F48F-19EBC6FED7F0}"/>
              </a:ext>
            </a:extLst>
          </p:cNvPr>
          <p:cNvSpPr/>
          <p:nvPr userDrawn="1"/>
        </p:nvSpPr>
        <p:spPr>
          <a:xfrm>
            <a:off x="0" y="5786438"/>
            <a:ext cx="9144000" cy="1071562"/>
          </a:xfrm>
          <a:prstGeom prst="rect">
            <a:avLst/>
          </a:prstGeom>
          <a:solidFill>
            <a:srgbClr val="D5D6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75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77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2 Subtítulo">
            <a:extLst>
              <a:ext uri="{FF2B5EF4-FFF2-40B4-BE49-F238E27FC236}">
                <a16:creationId xmlns:a16="http://schemas.microsoft.com/office/drawing/2014/main" id="{75207037-66AB-408E-B44C-6489E27F4A1E}"/>
              </a:ext>
            </a:extLst>
          </p:cNvPr>
          <p:cNvSpPr txBox="1">
            <a:spLocks/>
          </p:cNvSpPr>
          <p:nvPr/>
        </p:nvSpPr>
        <p:spPr bwMode="auto">
          <a:xfrm>
            <a:off x="1115616" y="3996721"/>
            <a:ext cx="6400800" cy="1296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buFont typeface="Arial" panose="020B0604020202020204" pitchFamily="34" charset="0"/>
              <a:buNone/>
            </a:pPr>
            <a:r>
              <a:rPr lang="es-CO" altLang="es-CO" sz="2800" dirty="0">
                <a:latin typeface="Sans Serif "/>
              </a:rPr>
              <a:t>Jheyson F. </a:t>
            </a:r>
            <a:r>
              <a:rPr lang="es-CO" altLang="es-CO" sz="2800" dirty="0" err="1">
                <a:latin typeface="Sans Serif "/>
              </a:rPr>
              <a:t>Villavisan</a:t>
            </a:r>
            <a:r>
              <a:rPr lang="es-CO" altLang="es-CO" sz="2800" dirty="0">
                <a:latin typeface="Sans Serif "/>
              </a:rPr>
              <a:t> B</a:t>
            </a:r>
            <a:endParaRPr lang="es-CO" altLang="es-CO" sz="1800" dirty="0">
              <a:latin typeface="Sans Serif "/>
            </a:endParaRPr>
          </a:p>
        </p:txBody>
      </p:sp>
      <p:sp>
        <p:nvSpPr>
          <p:cNvPr id="10" name="2 Subtítulo">
            <a:extLst>
              <a:ext uri="{FF2B5EF4-FFF2-40B4-BE49-F238E27FC236}">
                <a16:creationId xmlns:a16="http://schemas.microsoft.com/office/drawing/2014/main" id="{0D52910C-C7FF-51AD-9B9D-1A390D5FFE1B}"/>
              </a:ext>
            </a:extLst>
          </p:cNvPr>
          <p:cNvSpPr txBox="1">
            <a:spLocks/>
          </p:cNvSpPr>
          <p:nvPr/>
        </p:nvSpPr>
        <p:spPr bwMode="auto">
          <a:xfrm>
            <a:off x="1115616" y="2060848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1" fontAlgn="auto" hangingPunct="1">
              <a:spcAft>
                <a:spcPts val="0"/>
              </a:spcAft>
              <a:buNone/>
              <a:defRPr/>
            </a:pPr>
            <a:r>
              <a:rPr lang="es-ES" sz="4800" b="1" dirty="0">
                <a:latin typeface="Sans Serif "/>
              </a:rPr>
              <a:t>6052 PROYECTO DE INVESTIGACION IV</a:t>
            </a:r>
            <a:endParaRPr lang="es-CO" sz="4800" b="1" dirty="0">
              <a:latin typeface="Sans Serif "/>
            </a:endParaRPr>
          </a:p>
        </p:txBody>
      </p:sp>
      <p:pic>
        <p:nvPicPr>
          <p:cNvPr id="4" name="Picture 4" descr="Programas - Intranet ETITC">
            <a:extLst>
              <a:ext uri="{FF2B5EF4-FFF2-40B4-BE49-F238E27FC236}">
                <a16:creationId xmlns:a16="http://schemas.microsoft.com/office/drawing/2014/main" id="{D4479EB1-4DF9-B949-038D-F4DF4235B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3">
            <a:extLst>
              <a:ext uri="{FF2B5EF4-FFF2-40B4-BE49-F238E27FC236}">
                <a16:creationId xmlns:a16="http://schemas.microsoft.com/office/drawing/2014/main" id="{BFAD80C6-663E-42AD-A6EE-0E699E7C41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499264"/>
              </p:ext>
            </p:extLst>
          </p:nvPr>
        </p:nvGraphicFramePr>
        <p:xfrm>
          <a:off x="863586" y="421816"/>
          <a:ext cx="7416824" cy="54222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077">
                  <a:extLst>
                    <a:ext uri="{9D8B030D-6E8A-4147-A177-3AD203B41FA5}">
                      <a16:colId xmlns:a16="http://schemas.microsoft.com/office/drawing/2014/main" val="571927606"/>
                    </a:ext>
                  </a:extLst>
                </a:gridCol>
                <a:gridCol w="3024336">
                  <a:extLst>
                    <a:ext uri="{9D8B030D-6E8A-4147-A177-3AD203B41FA5}">
                      <a16:colId xmlns:a16="http://schemas.microsoft.com/office/drawing/2014/main" val="2710960597"/>
                    </a:ext>
                  </a:extLst>
                </a:gridCol>
                <a:gridCol w="3708411">
                  <a:extLst>
                    <a:ext uri="{9D8B030D-6E8A-4147-A177-3AD203B41FA5}">
                      <a16:colId xmlns:a16="http://schemas.microsoft.com/office/drawing/2014/main" val="76565624"/>
                    </a:ext>
                  </a:extLst>
                </a:gridCol>
              </a:tblGrid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Semana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Fechas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100" b="1" dirty="0">
                          <a:solidFill>
                            <a:schemeClr val="tx1"/>
                          </a:solidFill>
                          <a:latin typeface="Sans Serif"/>
                        </a:rPr>
                        <a:t>Nombre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602277"/>
                  </a:ext>
                </a:extLst>
              </a:tr>
              <a:tr h="355400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6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Introducción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633600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13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Generalidades presentación informe.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Reglamento de trabajos de grado y modalidades.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441063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20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1330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27 febrero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148968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6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anteproyectos.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866089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13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Entrega Avances Resultados Proyecto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5290604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 20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Asesoría Investigación – Redacción Informe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690420"/>
                  </a:ext>
                </a:extLst>
              </a:tr>
              <a:tr h="222125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27 marzo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450833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3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u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Semana Santa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391392"/>
                  </a:ext>
                </a:extLst>
              </a:tr>
              <a:tr h="275512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10</a:t>
                      </a:r>
                      <a:endParaRPr lang="es-CO" sz="1050" b="1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10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6598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17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83315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24 abril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Pre-Sustentación (resultados)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4397848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1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ans Serif"/>
                        </a:rPr>
                        <a:t>Día del Trabajo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511249"/>
                  </a:ext>
                </a:extLst>
              </a:tr>
              <a:tr h="222125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8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 err="1">
                          <a:solidFill>
                            <a:schemeClr val="tx1"/>
                          </a:solidFill>
                          <a:latin typeface="Sans Serif"/>
                        </a:rPr>
                        <a:t>Pre-sustentación</a:t>
                      </a:r>
                      <a:endParaRPr lang="es-CO" sz="900" b="1" u="none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658262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15</a:t>
                      </a:r>
                      <a:endParaRPr lang="es-CO" sz="1050" b="1" dirty="0">
                        <a:solidFill>
                          <a:schemeClr val="tx1"/>
                        </a:solidFill>
                        <a:highlight>
                          <a:srgbClr val="FF0000"/>
                        </a:highlight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15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854627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16</a:t>
                      </a:r>
                      <a:endParaRPr lang="es-CO" sz="1050" b="1" dirty="0">
                        <a:solidFill>
                          <a:schemeClr val="tx1"/>
                        </a:solidFill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22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030376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ES" sz="1050" b="1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Sans Serif"/>
                        </a:rPr>
                        <a:t>17</a:t>
                      </a:r>
                      <a:endParaRPr lang="es-CO" sz="1050" b="1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Sans Serif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29 mayo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Presentación de trabajos de Grado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288061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FF"/>
                          </a:highlight>
                          <a:latin typeface="Sans Serif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5 junio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768826"/>
                  </a:ext>
                </a:extLst>
              </a:tr>
              <a:tr h="261508"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Sans Serif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050" b="1" dirty="0">
                          <a:solidFill>
                            <a:schemeClr val="tx1"/>
                          </a:solidFill>
                          <a:latin typeface="Sans Serif"/>
                        </a:rPr>
                        <a:t>12 junio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900" b="1" u="none" dirty="0">
                          <a:solidFill>
                            <a:schemeClr val="tx1"/>
                          </a:solidFill>
                          <a:latin typeface="Sans Serif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340693"/>
                  </a:ext>
                </a:extLst>
              </a:tr>
            </a:tbl>
          </a:graphicData>
        </a:graphic>
      </p:graphicFrame>
      <p:sp>
        <p:nvSpPr>
          <p:cNvPr id="7" name="Rectángulo 9">
            <a:extLst>
              <a:ext uri="{FF2B5EF4-FFF2-40B4-BE49-F238E27FC236}">
                <a16:creationId xmlns:a16="http://schemas.microsoft.com/office/drawing/2014/main" id="{EBDE2FDF-A2BB-4F17-99CB-0B213EF4BA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45456" y="6084535"/>
            <a:ext cx="265308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s-CO" altLang="es-CO" sz="1800" dirty="0">
                <a:latin typeface="Sans Serif"/>
              </a:rPr>
              <a:t> Viernes:       18:15 – 21:50</a:t>
            </a:r>
          </a:p>
        </p:txBody>
      </p:sp>
      <p:pic>
        <p:nvPicPr>
          <p:cNvPr id="1028" name="Picture 4" descr="Programas - Intranet ETITC">
            <a:extLst>
              <a:ext uri="{FF2B5EF4-FFF2-40B4-BE49-F238E27FC236}">
                <a16:creationId xmlns:a16="http://schemas.microsoft.com/office/drawing/2014/main" id="{86BA1783-B2FE-6B6A-8793-A57527FC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3479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B23884C5-0885-2D32-6D50-BAD662F1A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671111"/>
              </p:ext>
            </p:extLst>
          </p:nvPr>
        </p:nvGraphicFramePr>
        <p:xfrm>
          <a:off x="6692223" y="5794464"/>
          <a:ext cx="1926292" cy="10297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6292">
                  <a:extLst>
                    <a:ext uri="{9D8B030D-6E8A-4147-A177-3AD203B41FA5}">
                      <a16:colId xmlns:a16="http://schemas.microsoft.com/office/drawing/2014/main" val="1989480522"/>
                    </a:ext>
                  </a:extLst>
                </a:gridCol>
              </a:tblGrid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00FF00"/>
                          </a:highlight>
                        </a:rPr>
                        <a:t>Evaluación Parcial/Final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0139554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00FF"/>
                          </a:highlight>
                        </a:rPr>
                        <a:t>Revisión de Notas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459264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0000"/>
                          </a:highlight>
                          <a:latin typeface="Sans Serif "/>
                        </a:rPr>
                        <a:t>Registro de Nota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73428"/>
                  </a:ext>
                </a:extLst>
              </a:tr>
              <a:tr h="257428">
                <a:tc>
                  <a:txBody>
                    <a:bodyPr/>
                    <a:lstStyle/>
                    <a:p>
                      <a:r>
                        <a:rPr lang="es-CO" sz="900" dirty="0">
                          <a:highlight>
                            <a:srgbClr val="FFFF00"/>
                          </a:highlight>
                        </a:rPr>
                        <a:t>Festivo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2879406"/>
                  </a:ext>
                </a:extLst>
              </a:tr>
            </a:tbl>
          </a:graphicData>
        </a:graphic>
      </p:graphicFrame>
      <p:sp>
        <p:nvSpPr>
          <p:cNvPr id="3" name="2 Subtítulo">
            <a:extLst>
              <a:ext uri="{FF2B5EF4-FFF2-40B4-BE49-F238E27FC236}">
                <a16:creationId xmlns:a16="http://schemas.microsoft.com/office/drawing/2014/main" id="{E3939621-2089-EA67-8952-39A4E2C7964F}"/>
              </a:ext>
            </a:extLst>
          </p:cNvPr>
          <p:cNvSpPr txBox="1">
            <a:spLocks/>
          </p:cNvSpPr>
          <p:nvPr/>
        </p:nvSpPr>
        <p:spPr bwMode="auto">
          <a:xfrm>
            <a:off x="2627784" y="51531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400" b="1" dirty="0">
                <a:latin typeface="Sans Serif "/>
              </a:rPr>
              <a:t>6052 PROYECTO DE INVESTIGACION IV</a:t>
            </a:r>
            <a:endParaRPr lang="es-CO" sz="2400" b="1" dirty="0">
              <a:latin typeface="Sans Serif "/>
            </a:endParaRPr>
          </a:p>
        </p:txBody>
      </p:sp>
    </p:spTree>
    <p:extLst>
      <p:ext uri="{BB962C8B-B14F-4D97-AF65-F5344CB8AC3E}">
        <p14:creationId xmlns:p14="http://schemas.microsoft.com/office/powerpoint/2010/main" val="2505371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1B6180-BCA0-4F51-9F68-9E5BAB8A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565" y="1126313"/>
            <a:ext cx="3008313" cy="1162050"/>
          </a:xfrm>
        </p:spPr>
        <p:txBody>
          <a:bodyPr/>
          <a:lstStyle/>
          <a:p>
            <a:r>
              <a:rPr lang="es-CO" dirty="0"/>
              <a:t>OBJETIVO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827" y="2832063"/>
            <a:ext cx="7360581" cy="4691063"/>
          </a:xfrm>
        </p:spPr>
        <p:txBody>
          <a:bodyPr>
            <a:normAutofit/>
          </a:bodyPr>
          <a:lstStyle/>
          <a:p>
            <a:pPr algn="just"/>
            <a:r>
              <a:rPr lang="es-CO" sz="2000" dirty="0"/>
              <a:t>Identificar las disposiciones generales, modalidades y desarrollo de trabajos de grado según Acuerdo 02 de 22 de abril </a:t>
            </a:r>
            <a:r>
              <a:rPr lang="es-CO" sz="2000" b="1" dirty="0"/>
              <a:t>Consejo Académico de la Escuela Tecnológica Instituto Técnico Central - ETITC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46E1A899-6475-4C36-890B-85392BBFA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5912" y="1696299"/>
            <a:ext cx="914400" cy="914400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3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83E1B4D8-655A-285D-2DF3-8CAEDFEE856D}"/>
              </a:ext>
            </a:extLst>
          </p:cNvPr>
          <p:cNvSpPr txBox="1">
            <a:spLocks/>
          </p:cNvSpPr>
          <p:nvPr/>
        </p:nvSpPr>
        <p:spPr bwMode="auto">
          <a:xfrm>
            <a:off x="2743200" y="192087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9177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484785"/>
            <a:ext cx="7360581" cy="3024336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Definición</a:t>
            </a:r>
            <a:endParaRPr lang="es-CO" sz="2400" dirty="0"/>
          </a:p>
          <a:p>
            <a:pPr algn="just"/>
            <a:r>
              <a:rPr lang="es-CO" sz="2400" dirty="0"/>
              <a:t>El trabajo de grado es una </a:t>
            </a:r>
            <a:r>
              <a:rPr lang="es-CO" sz="2400" b="1" dirty="0"/>
              <a:t>actividad</a:t>
            </a:r>
            <a:r>
              <a:rPr lang="es-CO" sz="2400" dirty="0"/>
              <a:t> académica que </a:t>
            </a:r>
            <a:r>
              <a:rPr lang="es-CO" sz="2400" b="1" dirty="0"/>
              <a:t>permite</a:t>
            </a:r>
            <a:r>
              <a:rPr lang="es-CO" sz="2400" dirty="0"/>
              <a:t> al estudiante que aspira a </a:t>
            </a:r>
            <a:r>
              <a:rPr lang="es-CO" sz="2400" b="1" dirty="0"/>
              <a:t>graduarse</a:t>
            </a:r>
            <a:r>
              <a:rPr lang="es-CO" sz="2400" dirty="0"/>
              <a:t> en el nivel o ciclo profesional universitario, consolidar sus competencias profesionales </a:t>
            </a:r>
            <a:r>
              <a:rPr lang="es-CO" sz="2400" b="1" dirty="0"/>
              <a:t>en torno </a:t>
            </a:r>
            <a:r>
              <a:rPr lang="es-CO" sz="2400" dirty="0"/>
              <a:t>a la investigación, análisis, innovación, desarrollo tecnológico y proyección social, al diagnosticar y </a:t>
            </a:r>
            <a:r>
              <a:rPr lang="es-CO" sz="2400" b="1" dirty="0"/>
              <a:t>solucionar</a:t>
            </a:r>
            <a:r>
              <a:rPr lang="es-CO" sz="2400" dirty="0"/>
              <a:t> </a:t>
            </a:r>
            <a:r>
              <a:rPr lang="es-CO" sz="2400" b="1" dirty="0"/>
              <a:t>problemáticas</a:t>
            </a:r>
            <a:r>
              <a:rPr lang="es-CO" sz="2400" dirty="0"/>
              <a:t> especiales desde su campo.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4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23EA204-2513-6644-FD20-7A363D8F33C3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205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Plazo de Ejecución</a:t>
            </a:r>
            <a:endParaRPr lang="es-CO" sz="2400" dirty="0"/>
          </a:p>
          <a:p>
            <a:pPr algn="just"/>
            <a:r>
              <a:rPr lang="es-CO" sz="2400" dirty="0"/>
              <a:t>El estudiante dispone de (1) semestre para la culminación del trabajo de grado contando inmediatamente después de haber aprobado la totalidad de créditos académicos del respectivo plan de estudio.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5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190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Modalidades de trabajo de grado</a:t>
            </a:r>
            <a:endParaRPr lang="es-CO" sz="2400" dirty="0"/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Modalidad de proyecto de Ingeniería</a:t>
            </a:r>
          </a:p>
          <a:p>
            <a:pPr algn="just"/>
            <a:r>
              <a:rPr lang="es-CO" sz="2400" dirty="0"/>
              <a:t>Es un trabajo que busca la aplicación de conocimientos en la solución de un problema o necesidad relacionada con el campo  profesional y detectada claramente en una empresa o comunidad determinada, o el desarrollo o aplicación de una innovación tecnológica con todos sus componentes.</a:t>
            </a:r>
          </a:p>
          <a:p>
            <a:pPr algn="just"/>
            <a:endParaRPr lang="es-CO" sz="2400" dirty="0"/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7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727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Modalidades de trabajo de grado</a:t>
            </a:r>
            <a:endParaRPr lang="es-CO" sz="2400" dirty="0"/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Modalidad de proyecto de Ingeniería</a:t>
            </a:r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Certificación Nacional o Internacional</a:t>
            </a:r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Estudios </a:t>
            </a:r>
            <a:r>
              <a:rPr lang="es-CO" sz="2400" dirty="0" err="1"/>
              <a:t>Coterminales</a:t>
            </a:r>
            <a:r>
              <a:rPr lang="es-CO" sz="2400" dirty="0"/>
              <a:t> o de Postgrado</a:t>
            </a:r>
          </a:p>
          <a:p>
            <a:pPr algn="just"/>
            <a:endParaRPr lang="es-CO" sz="2400" dirty="0"/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6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106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Modalidades de trabajo de grado</a:t>
            </a:r>
            <a:endParaRPr lang="es-CO" sz="2400" dirty="0"/>
          </a:p>
          <a:p>
            <a:pPr algn="just"/>
            <a:r>
              <a:rPr lang="es-CO" sz="2400" dirty="0"/>
              <a:t>La modalidad proyecto de ingeniería, se puede enfocar en alguno de los siguientes tipos de proyectos:</a:t>
            </a:r>
          </a:p>
          <a:p>
            <a:pPr algn="just"/>
            <a:r>
              <a:rPr lang="es-CO" sz="2400" b="1" dirty="0"/>
              <a:t>Proyecto de Desarrollo Tecnológico</a:t>
            </a:r>
          </a:p>
          <a:p>
            <a:pPr algn="just"/>
            <a:r>
              <a:rPr lang="es-CO" sz="2400" b="1" dirty="0"/>
              <a:t>Certificación de la aceptación de un artículo científico</a:t>
            </a:r>
          </a:p>
          <a:p>
            <a:pPr algn="just"/>
            <a:r>
              <a:rPr lang="es-CO" sz="2400" b="1" dirty="0"/>
              <a:t>Producto de desarrollo tecnológico e innovación</a:t>
            </a:r>
          </a:p>
          <a:p>
            <a:pPr algn="just"/>
            <a:r>
              <a:rPr lang="es-CO" sz="2400" b="1" dirty="0"/>
              <a:t>Participación en un proyecto según el reglamento estudiantil de investigación</a:t>
            </a:r>
          </a:p>
          <a:p>
            <a:pPr algn="just"/>
            <a:r>
              <a:rPr lang="es-CO" sz="2400" b="1" dirty="0"/>
              <a:t>Proyecto de plan de creación de empresa de base tecnológica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8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1683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Modalidades de trabajo de grado</a:t>
            </a:r>
            <a:endParaRPr lang="es-CO" sz="2400" dirty="0"/>
          </a:p>
          <a:p>
            <a:pPr algn="just"/>
            <a:r>
              <a:rPr lang="es-CO" sz="2400" dirty="0"/>
              <a:t>Certificación Nacional o Internacional</a:t>
            </a:r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Consiste en la presentación de una certificación nacional o internacional obtenida a partir del último semestre del plan de estudios, correspondiente, y reconocida en el área de competencias del programa.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9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962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Modalidades de trabajo de grado</a:t>
            </a:r>
            <a:endParaRPr lang="es-CO" sz="2400" dirty="0"/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Estudios </a:t>
            </a:r>
            <a:r>
              <a:rPr lang="es-CO" sz="2400" dirty="0" err="1"/>
              <a:t>Coterminales</a:t>
            </a:r>
            <a:r>
              <a:rPr lang="es-CO" sz="2400" dirty="0"/>
              <a:t> o de Postgrado</a:t>
            </a:r>
          </a:p>
          <a:p>
            <a:pPr algn="just"/>
            <a:r>
              <a:rPr lang="es-CO" sz="2400" dirty="0"/>
              <a:t>Consiste en acreditar el haber cursado y aprobado un periodo académico o el equivalente al 50% de una especialización profesional o de una especialización tecnológica, de las ofertadas por la ETITC, o un periodo académico o el equivalente al 25% de una maestría que oferte la ETITC.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10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58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11 Procedimiento</a:t>
            </a:r>
          </a:p>
          <a:p>
            <a:pPr algn="just"/>
            <a:r>
              <a:rPr lang="es-CO" sz="2400" dirty="0"/>
              <a:t>1. Elaboración y aprobación del Anteproyecto de trabajo de grado.</a:t>
            </a:r>
          </a:p>
          <a:p>
            <a:pPr algn="just"/>
            <a:r>
              <a:rPr lang="es-CO" sz="2400" dirty="0"/>
              <a:t>2. Asignación de director o asesor.</a:t>
            </a:r>
          </a:p>
          <a:p>
            <a:pPr algn="just"/>
            <a:r>
              <a:rPr lang="es-CO" sz="2400" dirty="0"/>
              <a:t>3. Desarrollo del Trabajo de Grado.</a:t>
            </a:r>
          </a:p>
          <a:p>
            <a:pPr algn="just"/>
            <a:r>
              <a:rPr lang="es-CO" sz="2400" dirty="0"/>
              <a:t>4. Revisión y edición del informe final en formato digital.</a:t>
            </a:r>
          </a:p>
          <a:p>
            <a:pPr algn="just"/>
            <a:r>
              <a:rPr lang="es-CO" sz="2400" dirty="0"/>
              <a:t>5. Radicación de la carta remisora de constancia de finalizado avalada por director o asesor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11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5771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11 Procedimiento</a:t>
            </a:r>
          </a:p>
          <a:p>
            <a:pPr algn="just"/>
            <a:r>
              <a:rPr lang="es-CO" sz="2400" dirty="0"/>
              <a:t>6. Asignación de jurados de trabajo de grado</a:t>
            </a:r>
          </a:p>
          <a:p>
            <a:pPr algn="just"/>
            <a:r>
              <a:rPr lang="es-CO" sz="2400" dirty="0"/>
              <a:t>7. Sustentación pública </a:t>
            </a:r>
          </a:p>
          <a:p>
            <a:pPr algn="just"/>
            <a:r>
              <a:rPr lang="es-CO" sz="2400" dirty="0"/>
              <a:t>8. Calificación</a:t>
            </a:r>
          </a:p>
          <a:p>
            <a:pPr algn="just"/>
            <a:r>
              <a:rPr lang="es-CO" sz="2400" dirty="0"/>
              <a:t>9. Oficialización de aprobación</a:t>
            </a:r>
          </a:p>
          <a:p>
            <a:pPr algn="just"/>
            <a:r>
              <a:rPr lang="es-CO" sz="2400" dirty="0"/>
              <a:t>10. Entrega a decanatura informe final aprobado.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12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6521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12 Anteproyecto</a:t>
            </a:r>
          </a:p>
          <a:p>
            <a:pPr algn="just"/>
            <a:r>
              <a:rPr lang="es-CO" sz="2400" dirty="0"/>
              <a:t>Para la elaboración, presentación y aprobación del trabajo de grado, </a:t>
            </a:r>
            <a:r>
              <a:rPr lang="es-CO" sz="2400" b="1" dirty="0"/>
              <a:t>cualquiera </a:t>
            </a:r>
            <a:r>
              <a:rPr lang="es-CO" sz="2400" dirty="0"/>
              <a:t>que sea su modalidad, el estudiante deberá inscribir este anteproyecto ante el profesor coordinador de trabajos de grado de la facultad, la propuesta de anteproyecto de grado escogida.</a:t>
            </a:r>
            <a:endParaRPr lang="es-CO" sz="2400" b="1" dirty="0"/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13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30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12 Anteproyecto</a:t>
            </a:r>
          </a:p>
          <a:p>
            <a:pPr algn="just"/>
            <a:r>
              <a:rPr lang="es-CO" sz="2400" dirty="0"/>
              <a:t>Toda propuesta de anteproyecto de trabajo de grado deberá contener el desarrollo de los siguientes aspectos relativos a la planeación del trabajo de grado:</a:t>
            </a:r>
          </a:p>
          <a:p>
            <a:pPr algn="just"/>
            <a:r>
              <a:rPr lang="es-CO" sz="2400" b="1" dirty="0"/>
              <a:t>1-Modalidad</a:t>
            </a:r>
          </a:p>
          <a:p>
            <a:pPr algn="just"/>
            <a:r>
              <a:rPr lang="es-CO" sz="2400" b="1" dirty="0"/>
              <a:t>2- Titulo</a:t>
            </a:r>
          </a:p>
          <a:p>
            <a:pPr algn="just"/>
            <a:r>
              <a:rPr lang="es-CO" sz="2400" b="1" dirty="0"/>
              <a:t>3- Problema</a:t>
            </a:r>
          </a:p>
          <a:p>
            <a:pPr algn="just"/>
            <a:r>
              <a:rPr lang="es-CO" sz="2400" b="1" dirty="0"/>
              <a:t>4-Justificación</a:t>
            </a:r>
          </a:p>
          <a:p>
            <a:pPr algn="just"/>
            <a:r>
              <a:rPr lang="es-CO" sz="2400" b="1" dirty="0"/>
              <a:t>5-Objetivos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14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67803" y="5949280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28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000" b="1" dirty="0"/>
              <a:t>Desarrollo</a:t>
            </a:r>
            <a:endParaRPr lang="es-CO" sz="2000" dirty="0"/>
          </a:p>
          <a:p>
            <a:pPr algn="just"/>
            <a:r>
              <a:rPr lang="es-CO" sz="2000" b="1" dirty="0"/>
              <a:t>Articulo 12 Anteproyecto</a:t>
            </a:r>
          </a:p>
          <a:p>
            <a:pPr algn="just"/>
            <a:r>
              <a:rPr lang="es-CO" sz="2000" dirty="0"/>
              <a:t>Toda propuesta de anteproyecto de trabajo de grado deberá contener el desarrollo de los siguientes aspectos relativos a la planeación del trabajo de grado:</a:t>
            </a:r>
          </a:p>
          <a:p>
            <a:pPr algn="just"/>
            <a:r>
              <a:rPr lang="es-CO" sz="2000" b="1" dirty="0"/>
              <a:t>6- Diseño metodológico</a:t>
            </a:r>
          </a:p>
          <a:p>
            <a:pPr algn="just"/>
            <a:r>
              <a:rPr lang="es-CO" sz="2000" b="1" dirty="0"/>
              <a:t>7-Cronograma</a:t>
            </a:r>
          </a:p>
          <a:p>
            <a:pPr algn="just"/>
            <a:r>
              <a:rPr lang="es-CO" sz="2000" b="1" dirty="0"/>
              <a:t>8-Bibliografía</a:t>
            </a:r>
          </a:p>
          <a:p>
            <a:pPr algn="just"/>
            <a:r>
              <a:rPr lang="es-CO" sz="2000" b="1" dirty="0"/>
              <a:t>9-Costos</a:t>
            </a:r>
          </a:p>
          <a:p>
            <a:pPr algn="just"/>
            <a:r>
              <a:rPr lang="es-CO" sz="2000" b="1" dirty="0"/>
              <a:t>10-Fuentes de financiación </a:t>
            </a:r>
          </a:p>
          <a:p>
            <a:pPr algn="just"/>
            <a:r>
              <a:rPr lang="es-CO" sz="2000" b="1" dirty="0"/>
              <a:t>11- Viabilidad técnico-financiera.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15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83568" y="6166911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765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000" b="1" dirty="0"/>
              <a:t>Desarrollo</a:t>
            </a:r>
            <a:endParaRPr lang="es-CO" sz="2000" dirty="0"/>
          </a:p>
          <a:p>
            <a:pPr algn="just"/>
            <a:r>
              <a:rPr lang="es-CO" sz="2000" b="1" dirty="0"/>
              <a:t>Articulo 13 Número de autores</a:t>
            </a:r>
          </a:p>
          <a:p>
            <a:pPr algn="just"/>
            <a:endParaRPr lang="es-CO" sz="2000" b="1" dirty="0"/>
          </a:p>
          <a:p>
            <a:pPr algn="just"/>
            <a:r>
              <a:rPr lang="es-CO" sz="2000" b="1" dirty="0"/>
              <a:t>2 autores: </a:t>
            </a:r>
            <a:r>
              <a:rPr lang="es-CO" sz="2000" dirty="0"/>
              <a:t>Proyecto de ingeniería</a:t>
            </a:r>
          </a:p>
          <a:p>
            <a:pPr algn="just"/>
            <a:endParaRPr lang="es-CO" sz="2000" dirty="0"/>
          </a:p>
          <a:p>
            <a:pPr algn="just"/>
            <a:r>
              <a:rPr lang="es-CO" sz="2000" b="1" dirty="0"/>
              <a:t>1 autor: </a:t>
            </a:r>
          </a:p>
          <a:p>
            <a:pPr algn="just"/>
            <a:r>
              <a:rPr lang="es-CO" sz="2000" dirty="0"/>
              <a:t>Participación en un proyecto según el reglamento estudiantil de investigación</a:t>
            </a:r>
          </a:p>
          <a:p>
            <a:pPr algn="just"/>
            <a:r>
              <a:rPr lang="es-CO" sz="2000" dirty="0"/>
              <a:t>Certificación Nacional o Internacional</a:t>
            </a:r>
          </a:p>
          <a:p>
            <a:pPr algn="just"/>
            <a:r>
              <a:rPr lang="es-CO" sz="2000" dirty="0"/>
              <a:t>Estudios </a:t>
            </a:r>
            <a:r>
              <a:rPr lang="es-CO" sz="2000" dirty="0" err="1"/>
              <a:t>coterminales</a:t>
            </a:r>
            <a:r>
              <a:rPr lang="es-CO" sz="2000" dirty="0"/>
              <a:t> en postgrado.</a:t>
            </a:r>
          </a:p>
          <a:p>
            <a:pPr algn="just"/>
            <a:endParaRPr lang="es-CO" sz="2000" b="1" dirty="0"/>
          </a:p>
          <a:p>
            <a:pPr algn="just"/>
            <a:endParaRPr lang="es-CO" sz="2000" b="1" dirty="0"/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16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83568" y="6166911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04E1DC74-F48A-58A6-612B-92F163E632B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9666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14 Edición Informe Final</a:t>
            </a:r>
          </a:p>
          <a:p>
            <a:pPr algn="just"/>
            <a:endParaRPr lang="es-CO" sz="2400" dirty="0"/>
          </a:p>
          <a:p>
            <a:pPr algn="just"/>
            <a:r>
              <a:rPr lang="es-CO" sz="2400" dirty="0"/>
              <a:t>Para la modalidad proyecto de ingeniería y sus diferentes tipos, una vez el estudiante ha terminado las labores propias del trabajo de grado, deberá elaborar y entregar un informe final en formato digital y en estricta coherencia con el tipo de proyecto optado. El cuerpo del trabajo no debe exceder las 60 páginas, sin incluir anexos.</a:t>
            </a:r>
          </a:p>
          <a:p>
            <a:pPr algn="just"/>
            <a:endParaRPr lang="es-CO" sz="2400" b="1" dirty="0"/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17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83568" y="6166911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D1EE2D82-6E50-E065-7E2C-F86917E9AEDE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19704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400" b="1" dirty="0"/>
              <a:t>Desarrollo</a:t>
            </a:r>
            <a:endParaRPr lang="es-CO" sz="2400" dirty="0"/>
          </a:p>
          <a:p>
            <a:pPr algn="just"/>
            <a:r>
              <a:rPr lang="es-CO" sz="2400" b="1" dirty="0"/>
              <a:t>Articulo 15 Calificación por parte del Jurado-</a:t>
            </a:r>
            <a:endParaRPr lang="es-CO" sz="2400" dirty="0"/>
          </a:p>
          <a:p>
            <a:pPr algn="just"/>
            <a:endParaRPr lang="es-CO" sz="2400" b="1" dirty="0"/>
          </a:p>
          <a:p>
            <a:pPr algn="just"/>
            <a:r>
              <a:rPr lang="es-CO" sz="2400" dirty="0"/>
              <a:t>Toda modalidad de trabajo de grado deberá ser objeto de calificación por parte de jurado y tener su acta de aprobación de trabajo de grado.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18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83568" y="6166911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999546FF-333B-CEAE-C2BD-15505C95A280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0586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1709" y="1700808"/>
            <a:ext cx="7360581" cy="4691063"/>
          </a:xfrm>
        </p:spPr>
        <p:txBody>
          <a:bodyPr>
            <a:normAutofit/>
          </a:bodyPr>
          <a:lstStyle/>
          <a:p>
            <a:pPr algn="ctr"/>
            <a:r>
              <a:rPr lang="es-CO" sz="2000" b="1" dirty="0"/>
              <a:t>Desarrollo</a:t>
            </a:r>
            <a:endParaRPr lang="es-CO" sz="2000" dirty="0"/>
          </a:p>
          <a:p>
            <a:pPr algn="just"/>
            <a:r>
              <a:rPr lang="es-CO" sz="2000" b="1" dirty="0"/>
              <a:t>Articulo 15 Calificación por parte del Jurado-</a:t>
            </a:r>
            <a:endParaRPr lang="es-CO" sz="2000" dirty="0"/>
          </a:p>
          <a:p>
            <a:pPr algn="just"/>
            <a:endParaRPr lang="es-CO" sz="2000" b="1" dirty="0"/>
          </a:p>
          <a:p>
            <a:pPr algn="just"/>
            <a:r>
              <a:rPr lang="es-CO" sz="2000" dirty="0"/>
              <a:t>Para la modalidad proyecto de ingeniería y sus diferentes tipos de proyecto, se consideran para la evaluación del trabajo los siguientes aspectos:</a:t>
            </a:r>
          </a:p>
          <a:p>
            <a:pPr algn="just"/>
            <a:r>
              <a:rPr lang="es-CO" sz="2000" dirty="0"/>
              <a:t>1. Alcance, originalidad de los aportes</a:t>
            </a:r>
          </a:p>
          <a:p>
            <a:pPr algn="just"/>
            <a:r>
              <a:rPr lang="es-CO" sz="2000" dirty="0"/>
              <a:t>2. Alcance de los objetivos</a:t>
            </a:r>
          </a:p>
          <a:p>
            <a:pPr algn="just"/>
            <a:r>
              <a:rPr lang="es-CO" sz="2000" dirty="0"/>
              <a:t>3. Interpretación, discusión de los resultados</a:t>
            </a:r>
          </a:p>
          <a:p>
            <a:pPr algn="just"/>
            <a:r>
              <a:rPr lang="es-CO" sz="2000" dirty="0"/>
              <a:t>4. Domino Tema</a:t>
            </a:r>
          </a:p>
          <a:p>
            <a:pPr algn="just"/>
            <a:r>
              <a:rPr lang="es-CO" sz="2000" dirty="0"/>
              <a:t>5. Calidad de Informe.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19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F108E7-F26E-12A2-3183-CCB1BE1AEF0B}"/>
              </a:ext>
            </a:extLst>
          </p:cNvPr>
          <p:cNvSpPr txBox="1"/>
          <p:nvPr/>
        </p:nvSpPr>
        <p:spPr>
          <a:xfrm>
            <a:off x="683568" y="6166911"/>
            <a:ext cx="7360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Tomado de </a:t>
            </a:r>
            <a:r>
              <a:rPr lang="es-CO" sz="1800" dirty="0"/>
              <a:t>Acuerdo 02 de 22 de abril </a:t>
            </a:r>
            <a:r>
              <a:rPr lang="es-CO" sz="1800" b="1" dirty="0"/>
              <a:t>Consejo Académico de la Escuela Tecnológica Instituto Técnico Central - ETITC</a:t>
            </a:r>
            <a:endParaRPr lang="en-US" dirty="0"/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1B73B2EE-82DE-1A7A-AC57-302D5132C191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2770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C7E43D4-8286-4BEE-907B-3A35AE701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827" y="2832063"/>
            <a:ext cx="7360581" cy="4691063"/>
          </a:xfrm>
        </p:spPr>
        <p:txBody>
          <a:bodyPr>
            <a:normAutofit/>
          </a:bodyPr>
          <a:lstStyle/>
          <a:p>
            <a:pPr algn="just"/>
            <a:r>
              <a:rPr lang="es-CO" sz="2400" b="1" dirty="0"/>
              <a:t>Trabajo individual: </a:t>
            </a:r>
            <a:endParaRPr lang="es-CO" sz="2400" dirty="0"/>
          </a:p>
          <a:p>
            <a:pPr algn="just"/>
            <a:r>
              <a:rPr lang="es-CO" sz="2400" dirty="0"/>
              <a:t>Leer completamente Acuerdo 02 de 22 de abril (disponible en línea).</a:t>
            </a: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AF4E183E-A171-4923-A99E-D149888CEC37}"/>
              </a:ext>
            </a:extLst>
          </p:cNvPr>
          <p:cNvSpPr txBox="1">
            <a:spLocks/>
          </p:cNvSpPr>
          <p:nvPr/>
        </p:nvSpPr>
        <p:spPr bwMode="auto">
          <a:xfrm>
            <a:off x="0" y="-28575"/>
            <a:ext cx="779463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CO" altLang="es-CO" sz="3600" b="0" dirty="0"/>
              <a:t>16</a:t>
            </a:r>
          </a:p>
        </p:txBody>
      </p:sp>
      <p:pic>
        <p:nvPicPr>
          <p:cNvPr id="14" name="Picture 4" descr="Programas - Intranet ETITC">
            <a:extLst>
              <a:ext uri="{FF2B5EF4-FFF2-40B4-BE49-F238E27FC236}">
                <a16:creationId xmlns:a16="http://schemas.microsoft.com/office/drawing/2014/main" id="{EC83F540-C4A2-EE56-0418-B8CD7CA17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338" y="44758"/>
            <a:ext cx="2483768" cy="79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2 Subtítulo">
            <a:extLst>
              <a:ext uri="{FF2B5EF4-FFF2-40B4-BE49-F238E27FC236}">
                <a16:creationId xmlns:a16="http://schemas.microsoft.com/office/drawing/2014/main" id="{6D88147D-F1B1-6CDA-07BA-627567C15FAD}"/>
              </a:ext>
            </a:extLst>
          </p:cNvPr>
          <p:cNvSpPr txBox="1">
            <a:spLocks/>
          </p:cNvSpPr>
          <p:nvPr/>
        </p:nvSpPr>
        <p:spPr bwMode="auto">
          <a:xfrm>
            <a:off x="2664496" y="250552"/>
            <a:ext cx="6400800" cy="5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eaLnBrk="1" fontAlgn="auto" hangingPunct="1">
              <a:spcAft>
                <a:spcPts val="0"/>
              </a:spcAft>
              <a:buNone/>
              <a:defRPr/>
            </a:pPr>
            <a:r>
              <a:rPr lang="es-ES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6042 PROYECTO DE INVESTIGACION II</a:t>
            </a:r>
            <a:endParaRPr lang="es-CO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9524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dc56f61-abc0-4f7e-bfec-a93ccd1ae88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A62137D465CE64A8C883A4664514BF8" ma:contentTypeVersion="15" ma:contentTypeDescription="Crear nuevo documento." ma:contentTypeScope="" ma:versionID="a1bd1d59f691eb9bca6952b111268275">
  <xsd:schema xmlns:xsd="http://www.w3.org/2001/XMLSchema" xmlns:xs="http://www.w3.org/2001/XMLSchema" xmlns:p="http://schemas.microsoft.com/office/2006/metadata/properties" xmlns:ns3="669280c1-d17e-4d1d-bd7f-b4f14cc6bf1d" xmlns:ns4="bdc56f61-abc0-4f7e-bfec-a93ccd1ae886" targetNamespace="http://schemas.microsoft.com/office/2006/metadata/properties" ma:root="true" ma:fieldsID="d02990a02f19f0f9fc7b999b1809cae4" ns3:_="" ns4:_="">
    <xsd:import namespace="669280c1-d17e-4d1d-bd7f-b4f14cc6bf1d"/>
    <xsd:import namespace="bdc56f61-abc0-4f7e-bfec-a93ccd1ae88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DateTaken" minOccurs="0"/>
                <xsd:element ref="ns4:MediaServiceGenerationTime" minOccurs="0"/>
                <xsd:element ref="ns4:MediaServiceEventHashCode" minOccurs="0"/>
                <xsd:element ref="ns4:MediaServiceLocation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9280c1-d17e-4d1d-bd7f-b4f14cc6bf1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c56f61-abc0-4f7e-bfec-a93ccd1ae8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825853C-1B27-4995-A583-4D39F900BB7F}">
  <ds:schemaRefs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669280c1-d17e-4d1d-bd7f-b4f14cc6bf1d"/>
    <ds:schemaRef ds:uri="http://purl.org/dc/elements/1.1/"/>
    <ds:schemaRef ds:uri="http://purl.org/dc/terms/"/>
    <ds:schemaRef ds:uri="http://schemas.microsoft.com/office/infopath/2007/PartnerControls"/>
    <ds:schemaRef ds:uri="bdc56f61-abc0-4f7e-bfec-a93ccd1ae88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E8623C8-32E1-48B0-9F0A-13F2E9582B7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25820C3-FD82-4EFC-BF14-EAF1F9613F5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9280c1-d17e-4d1d-bd7f-b4f14cc6bf1d"/>
    <ds:schemaRef ds:uri="bdc56f61-abc0-4f7e-bfec-a93ccd1ae8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2241</TotalTime>
  <Words>1376</Words>
  <Application>Microsoft Office PowerPoint</Application>
  <PresentationFormat>Carta (216 x 279 mm)</PresentationFormat>
  <Paragraphs>217</Paragraphs>
  <Slides>20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Sans Serif</vt:lpstr>
      <vt:lpstr>Sans Serif </vt:lpstr>
      <vt:lpstr>Tema de Office</vt:lpstr>
      <vt:lpstr>Presentación de PowerPoint</vt:lpstr>
      <vt:lpstr>Presentación de PowerPoint</vt:lpstr>
      <vt:lpstr>OBJETIVO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JHEYSON FABIAN VILLAVISAN BUITRAGO</cp:lastModifiedBy>
  <cp:revision>72</cp:revision>
  <dcterms:created xsi:type="dcterms:W3CDTF">2008-03-11T21:51:34Z</dcterms:created>
  <dcterms:modified xsi:type="dcterms:W3CDTF">2026-02-06T00:22:52Z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0x0101007A62137D465CE64A8C883A4664514BF8</vt:lpwstr>
  </property>
</Properties>
</file>